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ans" charset="1" panose="00000000000000000000"/>
      <p:regular r:id="rId13"/>
    </p:embeddedFont>
    <p:embeddedFont>
      <p:font typeface="Inter Medium" charset="1" panose="02000503000000020004"/>
      <p:regular r:id="rId14"/>
    </p:embeddedFont>
    <p:embeddedFont>
      <p:font typeface="Inter Bold" charset="1" panose="0200050300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Relationship Id="rId6" Target="../media/image7.jpeg" Type="http://schemas.openxmlformats.org/officeDocument/2006/relationships/image"/><Relationship Id="rId7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16.jpeg" Type="http://schemas.openxmlformats.org/officeDocument/2006/relationships/image"/><Relationship Id="rId4" Target="../media/image17.jpeg" Type="http://schemas.openxmlformats.org/officeDocument/2006/relationships/image"/><Relationship Id="rId5" Target="../media/image18.jpeg" Type="http://schemas.openxmlformats.org/officeDocument/2006/relationships/image"/><Relationship Id="rId6" Target="../media/image19.jpeg" Type="http://schemas.openxmlformats.org/officeDocument/2006/relationships/image"/><Relationship Id="rId7" Target="../media/image20.jpeg" Type="http://schemas.openxmlformats.org/officeDocument/2006/relationships/image"/><Relationship Id="rId8" Target="../media/image2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63191" cy="10295039"/>
            <a:chOff x="0" y="0"/>
            <a:chExt cx="9150922" cy="13726719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5085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9150858">
                  <a:moveTo>
                    <a:pt x="0" y="0"/>
                  </a:moveTo>
                  <a:lnTo>
                    <a:pt x="9150858" y="0"/>
                  </a:lnTo>
                  <a:lnTo>
                    <a:pt x="9150858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-1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6182" y="1317717"/>
            <a:ext cx="9452677" cy="1560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CEI – AI Engineering &amp; Enterprise AI Transformation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6182" y="3165291"/>
            <a:ext cx="9452677" cy="207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CEI designs, builds, and operationalizes production-grade AI to help enterprises move from strategy and experimentation to reliable, measurable business outcomes. We integrate AI into mission-critical platforms, enterprise data and applications, and operational workflows with an emphasis on secure, scalable, governed, cloud-native, and highly reliable AI.  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856182" y="5578421"/>
            <a:ext cx="9452677" cy="28594"/>
            <a:chOff x="0" y="0"/>
            <a:chExt cx="12603569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3480" cy="38100"/>
            </a:xfrm>
            <a:custGeom>
              <a:avLst/>
              <a:gdLst/>
              <a:ahLst/>
              <a:cxnLst/>
              <a:rect r="r" b="b" t="t" l="l"/>
              <a:pathLst>
                <a:path h="38100" w="1260348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2584430" y="0"/>
                  </a:lnTo>
                  <a:cubicBezTo>
                    <a:pt x="12594972" y="0"/>
                    <a:pt x="12603480" y="8509"/>
                    <a:pt x="12603480" y="19050"/>
                  </a:cubicBezTo>
                  <a:cubicBezTo>
                    <a:pt x="12603480" y="29591"/>
                    <a:pt x="12594972" y="38100"/>
                    <a:pt x="1258443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64646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56182" y="5948248"/>
            <a:ext cx="9452677" cy="3019406"/>
            <a:chOff x="0" y="0"/>
            <a:chExt cx="12603569" cy="40258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03607" cy="4025900"/>
            </a:xfrm>
            <a:custGeom>
              <a:avLst/>
              <a:gdLst/>
              <a:ahLst/>
              <a:cxnLst/>
              <a:rect r="r" b="b" t="t" l="l"/>
              <a:pathLst>
                <a:path h="4025900" w="12603607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12553950" y="0"/>
                  </a:lnTo>
                  <a:cubicBezTo>
                    <a:pt x="12581382" y="0"/>
                    <a:pt x="12603607" y="22225"/>
                    <a:pt x="12603607" y="49657"/>
                  </a:cubicBezTo>
                  <a:lnTo>
                    <a:pt x="12603607" y="3976243"/>
                  </a:lnTo>
                  <a:cubicBezTo>
                    <a:pt x="12603607" y="4003675"/>
                    <a:pt x="12581382" y="4025900"/>
                    <a:pt x="12553950" y="4025900"/>
                  </a:cubicBezTo>
                  <a:lnTo>
                    <a:pt x="49657" y="4025900"/>
                  </a:lnTo>
                  <a:cubicBezTo>
                    <a:pt x="22225" y="4025900"/>
                    <a:pt x="0" y="4003675"/>
                    <a:pt x="0" y="397624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04318" y="6186859"/>
            <a:ext cx="8956405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Company Snapshot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04318" y="6647612"/>
            <a:ext cx="8956405" cy="2071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Founded:</a:t>
            </a: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1992</a:t>
            </a:r>
          </a:p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HQ:</a:t>
            </a: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Pittsburgh, PA, USA</a:t>
            </a:r>
          </a:p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Industry:</a:t>
            </a: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IT Services &amp; Consulting</a:t>
            </a:r>
          </a:p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Website:</a:t>
            </a: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cei.ai</a:t>
            </a:r>
          </a:p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Experience:</a:t>
            </a: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30+ years enterprise transformation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679352"/>
            <a:ext cx="16315868" cy="51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077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From Enterprise IT to an AI-First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380134"/>
            <a:ext cx="16315868" cy="43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CEI evolved from classic enterprise technology and software services into an AI-first engineering organization. The company now embeds AI into operating models — moving beyond pilots into production-grade engineering, operations, and continuous optimization.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1931060"/>
            <a:ext cx="16315868" cy="7342222"/>
            <a:chOff x="0" y="0"/>
            <a:chExt cx="21754490" cy="978963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754464" cy="9789668"/>
            </a:xfrm>
            <a:custGeom>
              <a:avLst/>
              <a:gdLst/>
              <a:ahLst/>
              <a:cxnLst/>
              <a:rect r="r" b="b" t="t" l="l"/>
              <a:pathLst>
                <a:path h="9789668" w="21754464">
                  <a:moveTo>
                    <a:pt x="0" y="0"/>
                  </a:moveTo>
                  <a:lnTo>
                    <a:pt x="21754464" y="0"/>
                  </a:lnTo>
                  <a:lnTo>
                    <a:pt x="21754464" y="9789668"/>
                  </a:lnTo>
                  <a:lnTo>
                    <a:pt x="0" y="9789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8" r="0" b="-3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50746" y="2289972"/>
            <a:ext cx="2855233" cy="45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1992 Foundation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50746" y="2904344"/>
            <a:ext cx="2855233" cy="540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Enterprise IT, consulting, software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74603" y="7652014"/>
            <a:ext cx="2870921" cy="45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Growth &amp; Digital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74603" y="8266386"/>
            <a:ext cx="2870921" cy="83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App dev, modernization, cloud, DevOps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67086" y="1869815"/>
            <a:ext cx="2855233" cy="89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AI Transformation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67086" y="2925432"/>
            <a:ext cx="2855233" cy="83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Generative AI, automation, governance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0943" y="7431395"/>
            <a:ext cx="2855233" cy="892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AI-First Enterprise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0943" y="8487004"/>
            <a:ext cx="2855233" cy="83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0"/>
              </a:lnSpc>
            </a:pPr>
            <a:r>
              <a:rPr lang="en-US" sz="2176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Strategy → engineering → production → ops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2991" y="9368771"/>
            <a:ext cx="17230954" cy="22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Timeline stages highlight how CEI layered modern cloud, data and DevOps capabilities to enable enterprise-scale AI: Strategy → Engineering → Production → Operations → Continuous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22341"/>
            <a:ext cx="16315868" cy="74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57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CEI's Core Services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947939"/>
            <a:ext cx="16315868" cy="77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An integrated portfolio to deliver end-to-end enterprise AI transformation — from strategy and engineering to managed operations and continuous improvement.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2972038"/>
            <a:ext cx="1123464" cy="1123493"/>
            <a:chOff x="0" y="0"/>
            <a:chExt cx="1497952" cy="149799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497965" cy="1497965"/>
            </a:xfrm>
            <a:custGeom>
              <a:avLst/>
              <a:gdLst/>
              <a:ahLst/>
              <a:cxnLst/>
              <a:rect r="r" b="b" t="t" l="l"/>
              <a:pathLst>
                <a:path h="1497965" w="1497965">
                  <a:moveTo>
                    <a:pt x="0" y="0"/>
                  </a:moveTo>
                  <a:lnTo>
                    <a:pt x="1497965" y="0"/>
                  </a:lnTo>
                  <a:lnTo>
                    <a:pt x="1497965" y="1497965"/>
                  </a:lnTo>
                  <a:lnTo>
                    <a:pt x="0" y="149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89156" y="2952988"/>
            <a:ext cx="2478224" cy="38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AI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89156" y="3409388"/>
            <a:ext cx="2478224" cy="258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Enterprise AI, generative and agentic AI, automation, AI strategy and production engineering.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40100" y="2972038"/>
            <a:ext cx="1123464" cy="1123493"/>
            <a:chOff x="0" y="0"/>
            <a:chExt cx="1497952" cy="149799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497965" cy="1497965"/>
            </a:xfrm>
            <a:custGeom>
              <a:avLst/>
              <a:gdLst/>
              <a:ahLst/>
              <a:cxnLst/>
              <a:rect r="r" b="b" t="t" l="l"/>
              <a:pathLst>
                <a:path h="1497965" w="1497965">
                  <a:moveTo>
                    <a:pt x="0" y="0"/>
                  </a:moveTo>
                  <a:lnTo>
                    <a:pt x="1497965" y="0"/>
                  </a:lnTo>
                  <a:lnTo>
                    <a:pt x="1497965" y="1497965"/>
                  </a:lnTo>
                  <a:lnTo>
                    <a:pt x="0" y="149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536265" y="2952988"/>
            <a:ext cx="2478224" cy="7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Software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36265" y="3772957"/>
            <a:ext cx="2478224" cy="2582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Application development, modernization, maintenance, web &amp; mobile, Java and open-source engineering.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7199" y="2972038"/>
            <a:ext cx="1123464" cy="1123493"/>
            <a:chOff x="0" y="0"/>
            <a:chExt cx="1497952" cy="149799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497965" cy="1497965"/>
            </a:xfrm>
            <a:custGeom>
              <a:avLst/>
              <a:gdLst/>
              <a:ahLst/>
              <a:cxnLst/>
              <a:rect r="r" b="b" t="t" l="l"/>
              <a:pathLst>
                <a:path h="1497965" w="1497965">
                  <a:moveTo>
                    <a:pt x="0" y="0"/>
                  </a:moveTo>
                  <a:lnTo>
                    <a:pt x="1497965" y="0"/>
                  </a:lnTo>
                  <a:lnTo>
                    <a:pt x="1497965" y="1497965"/>
                  </a:lnTo>
                  <a:lnTo>
                    <a:pt x="0" y="149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683373" y="2952988"/>
            <a:ext cx="2478224" cy="38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Cloud &amp; DevOps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3373" y="3409388"/>
            <a:ext cx="2478224" cy="150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Cloud transformation, infrastructure, DevOps, integration and modernization.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434308" y="2972038"/>
            <a:ext cx="1123607" cy="1123636"/>
            <a:chOff x="0" y="0"/>
            <a:chExt cx="1498143" cy="149818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498092" cy="1498219"/>
            </a:xfrm>
            <a:custGeom>
              <a:avLst/>
              <a:gdLst/>
              <a:ahLst/>
              <a:cxnLst/>
              <a:rect r="r" b="b" t="t" l="l"/>
              <a:pathLst>
                <a:path h="1498219" w="1498092">
                  <a:moveTo>
                    <a:pt x="0" y="0"/>
                  </a:moveTo>
                  <a:lnTo>
                    <a:pt x="1498092" y="0"/>
                  </a:lnTo>
                  <a:lnTo>
                    <a:pt x="1498092" y="1498219"/>
                  </a:lnTo>
                  <a:lnTo>
                    <a:pt x="0" y="1498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830625" y="2952988"/>
            <a:ext cx="2478224" cy="382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Data &amp; Analytics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30625" y="3409388"/>
            <a:ext cx="2478224" cy="150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Enterprise data management, BI, big data platforms and analytics.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991" y="6791716"/>
            <a:ext cx="1123464" cy="1123493"/>
            <a:chOff x="0" y="0"/>
            <a:chExt cx="1497952" cy="149799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497965" cy="1497965"/>
            </a:xfrm>
            <a:custGeom>
              <a:avLst/>
              <a:gdLst/>
              <a:ahLst/>
              <a:cxnLst/>
              <a:rect r="r" b="b" t="t" l="l"/>
              <a:pathLst>
                <a:path h="1497965" w="1497965">
                  <a:moveTo>
                    <a:pt x="0" y="0"/>
                  </a:moveTo>
                  <a:lnTo>
                    <a:pt x="1497965" y="0"/>
                  </a:lnTo>
                  <a:lnTo>
                    <a:pt x="1497965" y="1497965"/>
                  </a:lnTo>
                  <a:lnTo>
                    <a:pt x="0" y="149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389156" y="6772666"/>
            <a:ext cx="2478224" cy="7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Managed Services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89156" y="7592635"/>
            <a:ext cx="2478224" cy="186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IT and application managed services, infrastructure support, operational excellence.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140100" y="6791716"/>
            <a:ext cx="1123464" cy="1123493"/>
            <a:chOff x="0" y="0"/>
            <a:chExt cx="1497952" cy="149799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497965" cy="1497965"/>
            </a:xfrm>
            <a:custGeom>
              <a:avLst/>
              <a:gdLst/>
              <a:ahLst/>
              <a:cxnLst/>
              <a:rect r="r" b="b" t="t" l="l"/>
              <a:pathLst>
                <a:path h="1497965" w="1497965">
                  <a:moveTo>
                    <a:pt x="0" y="0"/>
                  </a:moveTo>
                  <a:lnTo>
                    <a:pt x="1497965" y="0"/>
                  </a:lnTo>
                  <a:lnTo>
                    <a:pt x="1497965" y="1497965"/>
                  </a:lnTo>
                  <a:lnTo>
                    <a:pt x="0" y="149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6536265" y="6772666"/>
            <a:ext cx="2478224" cy="746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225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Digital Transformation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36265" y="7592635"/>
            <a:ext cx="2478224" cy="186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0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Digital strategy, agile transformation, UX/visual design, enterprise information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724492"/>
            <a:ext cx="16315868" cy="78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CEI's Enterprise AI Solutions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920422"/>
            <a:ext cx="17230954" cy="4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Three complementary, integrated solutions that move organizations from validated use cases to autonomous operations.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3682651"/>
            <a:ext cx="16315868" cy="3804637"/>
            <a:chOff x="0" y="0"/>
            <a:chExt cx="21754490" cy="5072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4466" cy="5072888"/>
            </a:xfrm>
            <a:custGeom>
              <a:avLst/>
              <a:gdLst/>
              <a:ahLst/>
              <a:cxnLst/>
              <a:rect r="r" b="b" t="t" l="l"/>
              <a:pathLst>
                <a:path h="5072888" w="21754466">
                  <a:moveTo>
                    <a:pt x="0" y="49657"/>
                  </a:moveTo>
                  <a:cubicBezTo>
                    <a:pt x="0" y="22225"/>
                    <a:pt x="22225" y="0"/>
                    <a:pt x="49657" y="0"/>
                  </a:cubicBezTo>
                  <a:lnTo>
                    <a:pt x="21704808" y="0"/>
                  </a:lnTo>
                  <a:cubicBezTo>
                    <a:pt x="21732241" y="0"/>
                    <a:pt x="21754466" y="22225"/>
                    <a:pt x="21754466" y="49657"/>
                  </a:cubicBezTo>
                  <a:lnTo>
                    <a:pt x="21754466" y="5023231"/>
                  </a:lnTo>
                  <a:cubicBezTo>
                    <a:pt x="21754466" y="5050663"/>
                    <a:pt x="21732241" y="5072888"/>
                    <a:pt x="21704808" y="5072888"/>
                  </a:cubicBezTo>
                  <a:lnTo>
                    <a:pt x="49657" y="5072888"/>
                  </a:lnTo>
                  <a:cubicBezTo>
                    <a:pt x="22225" y="5072888"/>
                    <a:pt x="0" y="5050663"/>
                    <a:pt x="0" y="502323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92991" y="3682651"/>
            <a:ext cx="5438575" cy="3804637"/>
            <a:chOff x="0" y="0"/>
            <a:chExt cx="7251433" cy="50728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251446" cy="5072888"/>
            </a:xfrm>
            <a:custGeom>
              <a:avLst/>
              <a:gdLst/>
              <a:ahLst/>
              <a:cxnLst/>
              <a:rect r="r" b="b" t="t" l="l"/>
              <a:pathLst>
                <a:path h="5072888" w="7251446">
                  <a:moveTo>
                    <a:pt x="41402" y="0"/>
                  </a:moveTo>
                  <a:lnTo>
                    <a:pt x="7251446" y="0"/>
                  </a:lnTo>
                  <a:lnTo>
                    <a:pt x="7251446" y="5072888"/>
                  </a:lnTo>
                  <a:lnTo>
                    <a:pt x="41402" y="5072888"/>
                  </a:lnTo>
                  <a:cubicBezTo>
                    <a:pt x="18542" y="5072888"/>
                    <a:pt x="0" y="5054346"/>
                    <a:pt x="0" y="5031486"/>
                  </a:cubicBezTo>
                  <a:lnTo>
                    <a:pt x="0" y="41402"/>
                  </a:lnTo>
                  <a:cubicBezTo>
                    <a:pt x="0" y="18542"/>
                    <a:pt x="18542" y="0"/>
                    <a:pt x="41402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41127" y="3921271"/>
            <a:ext cx="4569800" cy="7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CLAIRVOYANCE</a:t>
            </a:r>
            <a:r>
              <a:rPr lang="en-US" sz="24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™</a:t>
            </a: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— Prove AI Value Before You Scale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1127" y="4770015"/>
            <a:ext cx="4569800" cy="246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Agentic use-case framework that identifies high-value AI opportunities and maps them to measurable business goals. Uses a focused 40-hour Proof of Value workshop to validate ROI before scaling.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31556" y="3682651"/>
            <a:ext cx="5438575" cy="3804637"/>
            <a:chOff x="0" y="0"/>
            <a:chExt cx="7251433" cy="5072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51446" cy="5072888"/>
            </a:xfrm>
            <a:custGeom>
              <a:avLst/>
              <a:gdLst/>
              <a:ahLst/>
              <a:cxnLst/>
              <a:rect r="r" b="b" t="t" l="l"/>
              <a:pathLst>
                <a:path h="5072888" w="7251446">
                  <a:moveTo>
                    <a:pt x="0" y="0"/>
                  </a:moveTo>
                  <a:lnTo>
                    <a:pt x="7251446" y="0"/>
                  </a:lnTo>
                  <a:lnTo>
                    <a:pt x="7251446" y="5072888"/>
                  </a:lnTo>
                  <a:lnTo>
                    <a:pt x="0" y="5072888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31556" y="3682651"/>
            <a:ext cx="28594" cy="3804637"/>
            <a:chOff x="0" y="0"/>
            <a:chExt cx="38125" cy="5072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" cy="5072888"/>
            </a:xfrm>
            <a:custGeom>
              <a:avLst/>
              <a:gdLst/>
              <a:ahLst/>
              <a:cxnLst/>
              <a:rect r="r" b="b" t="t" l="l"/>
              <a:pathLst>
                <a:path h="507288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053838"/>
                  </a:lnTo>
                  <a:cubicBezTo>
                    <a:pt x="38100" y="5064379"/>
                    <a:pt x="29591" y="5072888"/>
                    <a:pt x="19050" y="5072888"/>
                  </a:cubicBezTo>
                  <a:cubicBezTo>
                    <a:pt x="8509" y="5072888"/>
                    <a:pt x="0" y="5064379"/>
                    <a:pt x="0" y="5053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052196" y="3921271"/>
            <a:ext cx="4197296" cy="7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DARTS</a:t>
            </a:r>
            <a:r>
              <a:rPr lang="en-US" sz="24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™</a:t>
            </a: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— Automate the Engineering Lifecycle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52196" y="4770015"/>
            <a:ext cx="4197296" cy="246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Spec-to-code framework that converts business requirements into validated software. Leverages agentic AI for development, automated testing, and governance to accelerate delivery.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870131" y="3682651"/>
            <a:ext cx="5438575" cy="3804637"/>
            <a:chOff x="0" y="0"/>
            <a:chExt cx="7251433" cy="50728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51446" cy="5072888"/>
            </a:xfrm>
            <a:custGeom>
              <a:avLst/>
              <a:gdLst/>
              <a:ahLst/>
              <a:cxnLst/>
              <a:rect r="r" b="b" t="t" l="l"/>
              <a:pathLst>
                <a:path h="5072888" w="7251446">
                  <a:moveTo>
                    <a:pt x="0" y="0"/>
                  </a:moveTo>
                  <a:lnTo>
                    <a:pt x="7210044" y="0"/>
                  </a:lnTo>
                  <a:cubicBezTo>
                    <a:pt x="7232903" y="0"/>
                    <a:pt x="7251446" y="18542"/>
                    <a:pt x="7251446" y="41402"/>
                  </a:cubicBezTo>
                  <a:lnTo>
                    <a:pt x="7251446" y="5031486"/>
                  </a:lnTo>
                  <a:cubicBezTo>
                    <a:pt x="7251446" y="5054346"/>
                    <a:pt x="7232903" y="5072888"/>
                    <a:pt x="7210044" y="5072888"/>
                  </a:cubicBezTo>
                  <a:lnTo>
                    <a:pt x="0" y="50728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870131" y="3682651"/>
            <a:ext cx="28594" cy="3804637"/>
            <a:chOff x="0" y="0"/>
            <a:chExt cx="38125" cy="5072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" cy="5072888"/>
            </a:xfrm>
            <a:custGeom>
              <a:avLst/>
              <a:gdLst/>
              <a:ahLst/>
              <a:cxnLst/>
              <a:rect r="r" b="b" t="t" l="l"/>
              <a:pathLst>
                <a:path h="5072888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5053838"/>
                  </a:lnTo>
                  <a:cubicBezTo>
                    <a:pt x="38100" y="5064379"/>
                    <a:pt x="29591" y="5072888"/>
                    <a:pt x="19050" y="5072888"/>
                  </a:cubicBezTo>
                  <a:cubicBezTo>
                    <a:pt x="8509" y="5072888"/>
                    <a:pt x="0" y="5064379"/>
                    <a:pt x="0" y="5053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490771" y="3921271"/>
            <a:ext cx="4569800" cy="785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PRISM</a:t>
            </a:r>
            <a:r>
              <a:rPr lang="en-US" sz="240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™</a:t>
            </a: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 — Transform IT from Reactive to Proactive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90771" y="4770015"/>
            <a:ext cx="4569800" cy="2469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AI-native managed services and AI-driven IT operations for predictive detection, remediation, and self-healing operations to support continuous performance and reliability.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991" y="7680836"/>
            <a:ext cx="16315868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</a:t>
            </a: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CLAIRVOYANCE → DARTS → PRISM</a:t>
            </a:r>
          </a:p>
          <a:p>
            <a:pPr algn="ctr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Use Case Validation → Intelligent Engineering → Autonomous Operations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6107020" y="5260343"/>
            <a:ext cx="649234" cy="649253"/>
            <a:chOff x="0" y="0"/>
            <a:chExt cx="865645" cy="8656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5632" cy="865632"/>
            </a:xfrm>
            <a:custGeom>
              <a:avLst/>
              <a:gdLst/>
              <a:ahLst/>
              <a:cxnLst/>
              <a:rect r="r" b="b" t="t" l="l"/>
              <a:pathLst>
                <a:path h="865632" w="865632">
                  <a:moveTo>
                    <a:pt x="0" y="51943"/>
                  </a:moveTo>
                  <a:cubicBezTo>
                    <a:pt x="0" y="23241"/>
                    <a:pt x="23241" y="0"/>
                    <a:pt x="51943" y="0"/>
                  </a:cubicBezTo>
                  <a:lnTo>
                    <a:pt x="813689" y="0"/>
                  </a:lnTo>
                  <a:cubicBezTo>
                    <a:pt x="842391" y="0"/>
                    <a:pt x="865632" y="23241"/>
                    <a:pt x="865632" y="51943"/>
                  </a:cubicBezTo>
                  <a:lnTo>
                    <a:pt x="865632" y="813689"/>
                  </a:lnTo>
                  <a:cubicBezTo>
                    <a:pt x="865632" y="842391"/>
                    <a:pt x="842391" y="865632"/>
                    <a:pt x="813689" y="865632"/>
                  </a:cubicBezTo>
                  <a:lnTo>
                    <a:pt x="51943" y="865632"/>
                  </a:lnTo>
                  <a:cubicBezTo>
                    <a:pt x="23241" y="865632"/>
                    <a:pt x="0" y="842391"/>
                    <a:pt x="0" y="81368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6276508" y="5429698"/>
            <a:ext cx="310239" cy="310248"/>
          </a:xfrm>
          <a:custGeom>
            <a:avLst/>
            <a:gdLst/>
            <a:ahLst/>
            <a:cxnLst/>
            <a:rect r="r" b="b" t="t" l="l"/>
            <a:pathLst>
              <a:path h="310248" w="310239">
                <a:moveTo>
                  <a:pt x="0" y="0"/>
                </a:moveTo>
                <a:lnTo>
                  <a:pt x="310239" y="0"/>
                </a:lnTo>
                <a:lnTo>
                  <a:pt x="310239" y="310248"/>
                </a:lnTo>
                <a:lnTo>
                  <a:pt x="0" y="3102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" t="0" r="-1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545586" y="5260343"/>
            <a:ext cx="649234" cy="649253"/>
            <a:chOff x="0" y="0"/>
            <a:chExt cx="865645" cy="8656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5632" cy="865632"/>
            </a:xfrm>
            <a:custGeom>
              <a:avLst/>
              <a:gdLst/>
              <a:ahLst/>
              <a:cxnLst/>
              <a:rect r="r" b="b" t="t" l="l"/>
              <a:pathLst>
                <a:path h="865632" w="865632">
                  <a:moveTo>
                    <a:pt x="0" y="51943"/>
                  </a:moveTo>
                  <a:cubicBezTo>
                    <a:pt x="0" y="23241"/>
                    <a:pt x="23241" y="0"/>
                    <a:pt x="51943" y="0"/>
                  </a:cubicBezTo>
                  <a:lnTo>
                    <a:pt x="813689" y="0"/>
                  </a:lnTo>
                  <a:cubicBezTo>
                    <a:pt x="842391" y="0"/>
                    <a:pt x="865632" y="23241"/>
                    <a:pt x="865632" y="51943"/>
                  </a:cubicBezTo>
                  <a:lnTo>
                    <a:pt x="865632" y="813689"/>
                  </a:lnTo>
                  <a:cubicBezTo>
                    <a:pt x="865632" y="842391"/>
                    <a:pt x="842391" y="865632"/>
                    <a:pt x="813689" y="865632"/>
                  </a:cubicBezTo>
                  <a:lnTo>
                    <a:pt x="51943" y="865632"/>
                  </a:lnTo>
                  <a:cubicBezTo>
                    <a:pt x="23241" y="865632"/>
                    <a:pt x="0" y="842391"/>
                    <a:pt x="0" y="813689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D8D4D4"/>
              </a:solidFill>
              <a:prstDash val="solid"/>
              <a:miter/>
            </a:ln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1715083" y="5429698"/>
            <a:ext cx="310239" cy="310248"/>
          </a:xfrm>
          <a:custGeom>
            <a:avLst/>
            <a:gdLst/>
            <a:ahLst/>
            <a:cxnLst/>
            <a:rect r="r" b="b" t="t" l="l"/>
            <a:pathLst>
              <a:path h="310248" w="310239">
                <a:moveTo>
                  <a:pt x="0" y="0"/>
                </a:moveTo>
                <a:lnTo>
                  <a:pt x="310239" y="0"/>
                </a:lnTo>
                <a:lnTo>
                  <a:pt x="310239" y="310248"/>
                </a:lnTo>
                <a:lnTo>
                  <a:pt x="0" y="310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9694" r="0" b="-19697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03183"/>
            <a:ext cx="16315868" cy="5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2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From AI Pilot to Production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382068"/>
            <a:ext cx="17230954" cy="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CEI’s end-to-end process ensures models become operational capabilities embedded in enterprise systems and workflows.   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60161" y="1711823"/>
            <a:ext cx="16181375" cy="6977901"/>
            <a:chOff x="0" y="0"/>
            <a:chExt cx="21575166" cy="930386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1575140" cy="9303893"/>
            </a:xfrm>
            <a:custGeom>
              <a:avLst/>
              <a:gdLst/>
              <a:ahLst/>
              <a:cxnLst/>
              <a:rect r="r" b="b" t="t" l="l"/>
              <a:pathLst>
                <a:path h="9303893" w="21575140">
                  <a:moveTo>
                    <a:pt x="0" y="0"/>
                  </a:moveTo>
                  <a:lnTo>
                    <a:pt x="21575140" y="0"/>
                  </a:lnTo>
                  <a:lnTo>
                    <a:pt x="21575140" y="9303893"/>
                  </a:lnTo>
                  <a:lnTo>
                    <a:pt x="0" y="93038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" r="0" b="-5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49050" y="7356919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Engineering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49050" y="5741651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Data &amp; Systems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9050" y="4142699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AI Strategy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149050" y="2527430"/>
            <a:ext cx="3670983" cy="46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9"/>
              </a:lnSpc>
            </a:pPr>
            <a:r>
              <a:rPr lang="en-US" sz="285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Business Goal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991" y="8779697"/>
            <a:ext cx="17230954" cy="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CEI addresses common enterprise barriers — legacy systems, fragmented data, ERP/CRM integration, security &amp; compliance, governance, monitoring, reliability, and scalability — while preserving human oversight.  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991" y="9109443"/>
            <a:ext cx="16315868" cy="463363"/>
            <a:chOff x="0" y="0"/>
            <a:chExt cx="21754490" cy="6178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54464" cy="617729"/>
            </a:xfrm>
            <a:custGeom>
              <a:avLst/>
              <a:gdLst/>
              <a:ahLst/>
              <a:cxnLst/>
              <a:rect r="r" b="b" t="t" l="l"/>
              <a:pathLst>
                <a:path h="617729" w="21754464">
                  <a:moveTo>
                    <a:pt x="0" y="30988"/>
                  </a:moveTo>
                  <a:cubicBezTo>
                    <a:pt x="0" y="13843"/>
                    <a:pt x="13843" y="0"/>
                    <a:pt x="30988" y="0"/>
                  </a:cubicBezTo>
                  <a:lnTo>
                    <a:pt x="21723477" y="0"/>
                  </a:lnTo>
                  <a:cubicBezTo>
                    <a:pt x="21740622" y="0"/>
                    <a:pt x="21754464" y="13843"/>
                    <a:pt x="21754464" y="30988"/>
                  </a:cubicBezTo>
                  <a:lnTo>
                    <a:pt x="21754464" y="586740"/>
                  </a:lnTo>
                  <a:cubicBezTo>
                    <a:pt x="21754464" y="603885"/>
                    <a:pt x="21740622" y="617728"/>
                    <a:pt x="21723477" y="617728"/>
                  </a:cubicBezTo>
                  <a:lnTo>
                    <a:pt x="30988" y="617728"/>
                  </a:lnTo>
                  <a:cubicBezTo>
                    <a:pt x="13843" y="617855"/>
                    <a:pt x="0" y="603885"/>
                    <a:pt x="0" y="586740"/>
                  </a:cubicBezTo>
                  <a:close/>
                </a:path>
              </a:pathLst>
            </a:custGeom>
            <a:solidFill>
              <a:srgbClr val="D4F7E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8039" y="9252433"/>
            <a:ext cx="193919" cy="155048"/>
            <a:chOff x="0" y="0"/>
            <a:chExt cx="258559" cy="20673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58572" cy="206756"/>
            </a:xfrm>
            <a:custGeom>
              <a:avLst/>
              <a:gdLst/>
              <a:ahLst/>
              <a:cxnLst/>
              <a:rect r="r" b="b" t="t" l="l"/>
              <a:pathLst>
                <a:path h="206756" w="258572">
                  <a:moveTo>
                    <a:pt x="0" y="0"/>
                  </a:moveTo>
                  <a:lnTo>
                    <a:pt x="258572" y="0"/>
                  </a:lnTo>
                  <a:lnTo>
                    <a:pt x="258572" y="206756"/>
                  </a:lnTo>
                  <a:lnTo>
                    <a:pt x="0" y="206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0" r="4" b="-614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97006" y="9226086"/>
            <a:ext cx="16571890" cy="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Key principles: Secure | Governed | Scalable | Observable | Measurable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2053809"/>
            <a:ext cx="16315868" cy="50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6"/>
              </a:lnSpc>
            </a:pPr>
            <a:r>
              <a:rPr lang="en-US" sz="3002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Technology Ecosystem &amp; Enterprise 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790635"/>
            <a:ext cx="7968625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Technology Ecosystem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3120400"/>
            <a:ext cx="7968625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  CEI integrates AI into existing enterprise platforms and hybrid clouds — partnering across cloud, security, development, and SaaS ecosystems.      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2525" y="3781549"/>
            <a:ext cx="1894227" cy="1894275"/>
            <a:chOff x="0" y="0"/>
            <a:chExt cx="2525636" cy="25257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2525649" cy="2525649"/>
            </a:xfrm>
            <a:custGeom>
              <a:avLst/>
              <a:gdLst/>
              <a:ahLst/>
              <a:cxnLst/>
              <a:rect r="r" b="b" t="t" l="l"/>
              <a:pathLst>
                <a:path h="2525649" w="2525649">
                  <a:moveTo>
                    <a:pt x="0" y="0"/>
                  </a:moveTo>
                  <a:lnTo>
                    <a:pt x="2525649" y="0"/>
                  </a:lnTo>
                  <a:lnTo>
                    <a:pt x="2525649" y="2525649"/>
                  </a:lnTo>
                  <a:lnTo>
                    <a:pt x="0" y="252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" t="0" r="0" b="-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020816" y="3781549"/>
            <a:ext cx="1894380" cy="1894427"/>
            <a:chOff x="0" y="0"/>
            <a:chExt cx="2525840" cy="252590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525776" cy="2525903"/>
            </a:xfrm>
            <a:custGeom>
              <a:avLst/>
              <a:gdLst/>
              <a:ahLst/>
              <a:cxnLst/>
              <a:rect r="r" b="b" t="t" l="l"/>
              <a:pathLst>
                <a:path h="2525903" w="2525776">
                  <a:moveTo>
                    <a:pt x="0" y="0"/>
                  </a:moveTo>
                  <a:lnTo>
                    <a:pt x="2525776" y="0"/>
                  </a:lnTo>
                  <a:lnTo>
                    <a:pt x="2525776" y="2525903"/>
                  </a:lnTo>
                  <a:lnTo>
                    <a:pt x="0" y="252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-4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39258" y="3781549"/>
            <a:ext cx="1894380" cy="1894427"/>
            <a:chOff x="0" y="0"/>
            <a:chExt cx="2525840" cy="2525903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525776" cy="2525903"/>
            </a:xfrm>
            <a:custGeom>
              <a:avLst/>
              <a:gdLst/>
              <a:ahLst/>
              <a:cxnLst/>
              <a:rect r="r" b="b" t="t" l="l"/>
              <a:pathLst>
                <a:path h="2525903" w="2525776">
                  <a:moveTo>
                    <a:pt x="0" y="0"/>
                  </a:moveTo>
                  <a:lnTo>
                    <a:pt x="2525776" y="0"/>
                  </a:lnTo>
                  <a:lnTo>
                    <a:pt x="2525776" y="2525903"/>
                  </a:lnTo>
                  <a:lnTo>
                    <a:pt x="0" y="252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4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057711" y="3781549"/>
            <a:ext cx="1894380" cy="1894427"/>
            <a:chOff x="0" y="0"/>
            <a:chExt cx="2525840" cy="252590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2525776" cy="2525903"/>
            </a:xfrm>
            <a:custGeom>
              <a:avLst/>
              <a:gdLst/>
              <a:ahLst/>
              <a:cxnLst/>
              <a:rect r="r" b="b" t="t" l="l"/>
              <a:pathLst>
                <a:path h="2525903" w="2525776">
                  <a:moveTo>
                    <a:pt x="0" y="0"/>
                  </a:moveTo>
                  <a:lnTo>
                    <a:pt x="2525776" y="0"/>
                  </a:lnTo>
                  <a:lnTo>
                    <a:pt x="2525776" y="2525903"/>
                  </a:lnTo>
                  <a:lnTo>
                    <a:pt x="0" y="252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" t="0" r="-4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02525" y="5800049"/>
            <a:ext cx="1894227" cy="1894275"/>
            <a:chOff x="0" y="0"/>
            <a:chExt cx="2525636" cy="252570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525649" cy="2525649"/>
            </a:xfrm>
            <a:custGeom>
              <a:avLst/>
              <a:gdLst/>
              <a:ahLst/>
              <a:cxnLst/>
              <a:rect r="r" b="b" t="t" l="l"/>
              <a:pathLst>
                <a:path h="2525649" w="2525649">
                  <a:moveTo>
                    <a:pt x="0" y="0"/>
                  </a:moveTo>
                  <a:lnTo>
                    <a:pt x="2525649" y="0"/>
                  </a:lnTo>
                  <a:lnTo>
                    <a:pt x="2525649" y="2525649"/>
                  </a:lnTo>
                  <a:lnTo>
                    <a:pt x="0" y="2525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" t="0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20816" y="5800049"/>
            <a:ext cx="1894380" cy="1894427"/>
            <a:chOff x="0" y="0"/>
            <a:chExt cx="2525840" cy="252590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2525776" cy="2525903"/>
            </a:xfrm>
            <a:custGeom>
              <a:avLst/>
              <a:gdLst/>
              <a:ahLst/>
              <a:cxnLst/>
              <a:rect r="r" b="b" t="t" l="l"/>
              <a:pathLst>
                <a:path h="2525903" w="2525776">
                  <a:moveTo>
                    <a:pt x="0" y="0"/>
                  </a:moveTo>
                  <a:lnTo>
                    <a:pt x="2525776" y="0"/>
                  </a:lnTo>
                  <a:lnTo>
                    <a:pt x="2525776" y="2525903"/>
                  </a:lnTo>
                  <a:lnTo>
                    <a:pt x="0" y="252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" t="0" r="-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039258" y="5800049"/>
            <a:ext cx="1894380" cy="1894427"/>
            <a:chOff x="0" y="0"/>
            <a:chExt cx="2525840" cy="2525903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2525776" cy="2525903"/>
            </a:xfrm>
            <a:custGeom>
              <a:avLst/>
              <a:gdLst/>
              <a:ahLst/>
              <a:cxnLst/>
              <a:rect r="r" b="b" t="t" l="l"/>
              <a:pathLst>
                <a:path h="2525903" w="2525776">
                  <a:moveTo>
                    <a:pt x="0" y="0"/>
                  </a:moveTo>
                  <a:lnTo>
                    <a:pt x="2525776" y="0"/>
                  </a:lnTo>
                  <a:lnTo>
                    <a:pt x="2525776" y="2525903"/>
                  </a:lnTo>
                  <a:lnTo>
                    <a:pt x="0" y="2525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" t="0" r="-4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92991" y="7914180"/>
            <a:ext cx="8883720" cy="220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  Integrations: ERP, CRM, ServiceNow, Hybrid Cloud, Enterprise Data platforms.      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49759" y="2790635"/>
            <a:ext cx="7968625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3"/>
              </a:lnSpc>
            </a:pPr>
            <a:r>
              <a:rPr lang="en-US" sz="1501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Business Impact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49759" y="3305165"/>
            <a:ext cx="3923690" cy="4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30+ Years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49759" y="3881647"/>
            <a:ext cx="3923690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Enterprise Transformation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49759" y="4211422"/>
            <a:ext cx="3923690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Decades of experience delivering enterprise-scale technology projects.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94541" y="3305165"/>
            <a:ext cx="3923843" cy="4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30–90%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94541" y="3881647"/>
            <a:ext cx="3923843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Automation Gains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394541" y="4211422"/>
            <a:ext cx="3923843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Range of automation achievable across service lines depending on use case and scope.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9759" y="4981384"/>
            <a:ext cx="3923690" cy="4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30–50%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49759" y="5557876"/>
            <a:ext cx="3923690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Operational Cost Reduction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49759" y="5887641"/>
            <a:ext cx="3923690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Typical operational efficiency improvements from automation and modernization.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94541" y="4981384"/>
            <a:ext cx="3923843" cy="435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5–7×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94541" y="5557876"/>
            <a:ext cx="3923843" cy="25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Faster Delivery &amp; Decisions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94541" y="5887641"/>
            <a:ext cx="3923843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Accelerated time-to-value through AI-enabled engineering and automation.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49759" y="6400009"/>
            <a:ext cx="7968625" cy="422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6"/>
              </a:lnSpc>
            </a:pPr>
            <a:r>
              <a:rPr lang="en-US" sz="1200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CEI emphasizes ROI-focused transformation, faster time to value, improved operational efficiency, responsible AI practices, and enterprise-scale deployments.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867613"/>
            <a:ext cx="16315868" cy="78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CEI – Building the AI-Ready Enterprise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2063544"/>
            <a:ext cx="16315868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CEI combines long-standing enterprise technology experience with modern AI engineering to help organizations shift from experimentation to reliable, scalable, and measurable enterprise AI.   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991" y="3223012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7725" r="0" b="-47724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23869" y="3213487"/>
            <a:ext cx="7071855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AI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23869" y="3674231"/>
            <a:ext cx="7071855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Build production-grade models and pipelines integrated with enterprise systems.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05973" y="3223012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1967" r="0" b="-2196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36851" y="3213487"/>
            <a:ext cx="7072008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Agentic AI &amp; Automation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36851" y="3674231"/>
            <a:ext cx="7072008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Use agentic and automation frameworks to accelerate engineering and operations.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991" y="5050860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214" t="0" r="-2121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23869" y="5041335"/>
            <a:ext cx="7071855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Cloud &amp; Data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3869" y="5502078"/>
            <a:ext cx="7071855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Hybrid cloud and enterprise data integration underpin scalable deployments.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05973" y="5050860"/>
            <a:ext cx="620639" cy="620649"/>
          </a:xfrm>
          <a:custGeom>
            <a:avLst/>
            <a:gdLst/>
            <a:ahLst/>
            <a:cxnLst/>
            <a:rect r="r" b="b" t="t" l="l"/>
            <a:pathLst>
              <a:path h="620649" w="620639">
                <a:moveTo>
                  <a:pt x="0" y="0"/>
                </a:moveTo>
                <a:lnTo>
                  <a:pt x="620639" y="0"/>
                </a:lnTo>
                <a:lnTo>
                  <a:pt x="620639" y="620649"/>
                </a:lnTo>
                <a:lnTo>
                  <a:pt x="0" y="6206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2119" r="0" b="-1212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36851" y="5041335"/>
            <a:ext cx="7072008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>
                <a:solidFill>
                  <a:srgbClr val="464646"/>
                </a:solidFill>
                <a:latin typeface="DM Sans"/>
                <a:ea typeface="DM Sans"/>
                <a:cs typeface="DM Sans"/>
                <a:sym typeface="DM Sans"/>
              </a:rPr>
              <a:t>AI Governance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36851" y="5502078"/>
            <a:ext cx="7072008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Embed security, compliance, monitoring, and human oversight into every stage.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991" y="6723507"/>
            <a:ext cx="16315868" cy="28594"/>
            <a:chOff x="0" y="0"/>
            <a:chExt cx="21754490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54464" cy="38100"/>
            </a:xfrm>
            <a:custGeom>
              <a:avLst/>
              <a:gdLst/>
              <a:ahLst/>
              <a:cxnLst/>
              <a:rect r="r" b="b" t="t" l="l"/>
              <a:pathLst>
                <a:path h="38100" w="21754464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735414" y="0"/>
                  </a:lnTo>
                  <a:cubicBezTo>
                    <a:pt x="21745955" y="0"/>
                    <a:pt x="21754464" y="8509"/>
                    <a:pt x="21754464" y="19050"/>
                  </a:cubicBezTo>
                  <a:cubicBezTo>
                    <a:pt x="21754464" y="29591"/>
                    <a:pt x="21745955" y="38100"/>
                    <a:pt x="21735414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64646">
                <a:alpha val="24706"/>
              </a:srgbClr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92991" y="7007609"/>
            <a:ext cx="16315868" cy="88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Medium"/>
                <a:ea typeface="Inter Medium"/>
                <a:cs typeface="Inter Medium"/>
                <a:sym typeface="Inter Medium"/>
              </a:rPr>
              <a:t>     Key takeaways: AI integrated into workflows; focus on production and measurable outcomes; emphasis on security, governance and observability; combined expertise in technology, engineering and operations to deliver enterprise transformation.  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991" y="8250641"/>
            <a:ext cx="16315868" cy="397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7"/>
              </a:lnSpc>
            </a:pPr>
            <a:r>
              <a:rPr lang="en-US" sz="2401">
                <a:solidFill>
                  <a:srgbClr val="030303"/>
                </a:solidFill>
                <a:latin typeface="DM Sans"/>
                <a:ea typeface="DM Sans"/>
                <a:cs typeface="DM Sans"/>
                <a:sym typeface="DM Sans"/>
              </a:rPr>
              <a:t>“From AI Potential to Enterprise Performance.”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5438" y="8934802"/>
            <a:ext cx="17230954" cy="482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4"/>
              </a:lnSpc>
            </a:pPr>
            <a:r>
              <a:rPr lang="en-US" sz="1951" b="true">
                <a:solidFill>
                  <a:srgbClr val="464646"/>
                </a:solidFill>
                <a:latin typeface="Inter Bold"/>
                <a:ea typeface="Inter Bold"/>
                <a:cs typeface="Inter Bold"/>
                <a:sym typeface="Inter Bold"/>
              </a:rPr>
              <a:t>CEI | cei.ai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DAHWj8jg70Y</dc:identifier>
  <dcterms:modified xsi:type="dcterms:W3CDTF">2011-08-01T06:04:30Z</dcterms:modified>
  <cp:revision>1</cp:revision>
</cp:coreProperties>
</file>